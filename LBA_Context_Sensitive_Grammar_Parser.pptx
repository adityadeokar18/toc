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ACADEMIC CASE STUDY  /  EDITABLE PLACEHOLDERS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College / Team Information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01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81912"/>
            <a:ext cx="653796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EFF5FF"/>
                </a:solidFill>
                <a:latin typeface="Aptos"/>
              </a:rPr>
              <a:t>Context-Sensitive Grammar Parser using Linear Bounded Automata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9504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Replace the fields below with your college-specific information.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0" y="1600200"/>
            <a:ext cx="0" cy="379476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83879" y="164592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"/>
              </a:rPr>
              <a:t>LBA / TYPE-1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75104"/>
            <a:ext cx="311810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DB3D7"/>
                </a:solidFill>
                <a:latin typeface="Aptos"/>
              </a:rPr>
              <a:t>BOUNDED INPUT TAPE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2249424"/>
            <a:ext cx="283464" cy="384048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67344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50807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50807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4272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34272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17736" y="2249424"/>
            <a:ext cx="283464" cy="384048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17736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0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84663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4663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68128" y="2249424"/>
            <a:ext cx="283464" cy="384048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68128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451592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51592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35055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35055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18519" y="2249424"/>
            <a:ext cx="283464" cy="38404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018519" y="2286000"/>
            <a:ext cx="2834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306324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4B942"/>
                </a:solidFill>
                <a:latin typeface="Aptos Mono"/>
              </a:rPr>
              <a:t>aⁿ bⁿ cⁿ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3703320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9DB3D7"/>
                </a:solidFill>
                <a:latin typeface="Aptos"/>
              </a:rPr>
              <a:t>MARK  →  MATCH  → 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3657600"/>
            <a:ext cx="2971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dirty="0" err="1">
                <a:solidFill>
                  <a:srgbClr val="43D9D5"/>
                </a:solidFill>
                <a:latin typeface="Aptos"/>
              </a:rPr>
              <a:t>Borale</a:t>
            </a:r>
            <a:r>
              <a:rPr lang="en-US" sz="1100" b="1" dirty="0">
                <a:solidFill>
                  <a:srgbClr val="43D9D5"/>
                </a:solidFill>
                <a:latin typeface="Aptos"/>
              </a:rPr>
              <a:t> Samiksha Ravindra</a:t>
            </a:r>
            <a:endParaRPr sz="1100" b="1" dirty="0">
              <a:solidFill>
                <a:srgbClr val="43D9D5"/>
              </a:solidFill>
              <a:latin typeface="Aptos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822960" y="3986784"/>
            <a:ext cx="283464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2960" y="4279392"/>
            <a:ext cx="2971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dirty="0" err="1">
                <a:solidFill>
                  <a:srgbClr val="43D9D5"/>
                </a:solidFill>
                <a:latin typeface="Aptos"/>
              </a:rPr>
              <a:t>Deokar</a:t>
            </a:r>
            <a:r>
              <a:rPr lang="en-US" sz="1100" b="1" dirty="0">
                <a:solidFill>
                  <a:srgbClr val="43D9D5"/>
                </a:solidFill>
                <a:latin typeface="Aptos"/>
              </a:rPr>
              <a:t> Aditya Sandip</a:t>
            </a:r>
            <a:endParaRPr sz="1100" b="1" dirty="0">
              <a:solidFill>
                <a:srgbClr val="43D9D5"/>
              </a:solidFill>
              <a:latin typeface="Aptos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822960" y="4608576"/>
            <a:ext cx="283464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22960" y="4901184"/>
            <a:ext cx="2971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dirty="0">
                <a:solidFill>
                  <a:srgbClr val="43D9D5"/>
                </a:solidFill>
                <a:latin typeface="Aptos"/>
              </a:rPr>
              <a:t>Chavan Aniket </a:t>
            </a:r>
            <a:r>
              <a:rPr lang="en-US" sz="1100" b="1" dirty="0" err="1">
                <a:solidFill>
                  <a:srgbClr val="43D9D5"/>
                </a:solidFill>
                <a:latin typeface="Aptos"/>
              </a:rPr>
              <a:t>Prakesh</a:t>
            </a:r>
            <a:endParaRPr sz="1100" b="1" dirty="0">
              <a:solidFill>
                <a:srgbClr val="43D9D5"/>
              </a:solidFill>
              <a:latin typeface="Aptos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822960" y="5230368"/>
            <a:ext cx="283464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51960" y="3657600"/>
            <a:ext cx="2971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dirty="0">
                <a:solidFill>
                  <a:srgbClr val="43D9D5"/>
                </a:solidFill>
                <a:latin typeface="Aptos"/>
              </a:rPr>
              <a:t>Gurli Palak Gulshan</a:t>
            </a:r>
            <a:endParaRPr sz="1100" b="1" dirty="0">
              <a:solidFill>
                <a:srgbClr val="43D9D5"/>
              </a:solidFill>
              <a:latin typeface="Aptos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251960" y="3986784"/>
            <a:ext cx="283464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251960" y="4279392"/>
            <a:ext cx="2971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100" b="1" dirty="0" err="1">
                <a:solidFill>
                  <a:srgbClr val="43D9D5"/>
                </a:solidFill>
                <a:latin typeface="Aptos"/>
              </a:rPr>
              <a:t>Kadbhane</a:t>
            </a:r>
            <a:r>
              <a:rPr lang="en-US" sz="1100" b="1" dirty="0">
                <a:solidFill>
                  <a:srgbClr val="43D9D5"/>
                </a:solidFill>
                <a:latin typeface="Aptos"/>
              </a:rPr>
              <a:t> Gayatri </a:t>
            </a:r>
            <a:r>
              <a:rPr lang="en-US" sz="1100" b="1" dirty="0" err="1">
                <a:solidFill>
                  <a:srgbClr val="43D9D5"/>
                </a:solidFill>
                <a:latin typeface="Aptos"/>
              </a:rPr>
              <a:t>Machhindra</a:t>
            </a:r>
            <a:endParaRPr sz="1100" b="1" dirty="0">
              <a:solidFill>
                <a:srgbClr val="43D9D5"/>
              </a:solidFill>
              <a:latin typeface="Aptos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4251960" y="4608576"/>
            <a:ext cx="283464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251960" y="4901184"/>
            <a:ext cx="2971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dirty="0">
                <a:solidFill>
                  <a:srgbClr val="43D9D5"/>
                </a:solidFill>
                <a:latin typeface="Aptos"/>
              </a:rPr>
              <a:t>[ACADEMIC YEAR]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251960" y="5230368"/>
            <a:ext cx="283464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22960" y="3236976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4B942"/>
                </a:solidFill>
                <a:latin typeface="Aptos"/>
              </a:rPr>
              <a:t>[CASE STUDY TITLE]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ACADEMIC CASE STUDY  /  EDITABLE PLACEHOLDER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Index / Table of Contents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02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4B942"/>
                </a:solidFill>
                <a:latin typeface="Aptos"/>
              </a:rPr>
              <a:t>[INDEX / TABLE OF CONTENTS]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48256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Introduction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2423160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268833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79192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Problem Statement &amp; Objectives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25880" y="3054096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33192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10128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Context-Sensitive Language and LBA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325880" y="3685032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95020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941064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System Architecture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25880" y="4315968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58114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572000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Methodology and Algorithm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25880" y="4946904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0" y="2057400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048256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State &amp; Transition Design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2423160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0" y="268833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679192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Example Execution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03720" y="3054096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0" y="331927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310128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Experimental Results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03720" y="3685032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0" y="395020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941064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Conclusion &amp; Future Scope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903720" y="4315968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0" y="458114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 Mono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572000"/>
            <a:ext cx="452628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EFF5FF"/>
                </a:solidFill>
                <a:latin typeface="Aptos"/>
              </a:rPr>
              <a:t>References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03720" y="4946904"/>
            <a:ext cx="4480560" cy="0"/>
          </a:xfrm>
          <a:prstGeom prst="line">
            <a:avLst/>
          </a:prstGeom>
          <a:ln w="889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526280" y="5650992"/>
            <a:ext cx="3154680" cy="283464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62856" y="5678424"/>
            <a:ext cx="30815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L = {aⁿ bⁿ cⁿ | n ≥ 1}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Introduction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03  /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554480"/>
            <a:ext cx="4160520" cy="4315968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54480"/>
            <a:ext cx="54864" cy="4315968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6153" y="1668780"/>
            <a:ext cx="39044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43D9D5"/>
                </a:solidFill>
                <a:latin typeface="Aptos"/>
              </a:rPr>
              <a:t>WHY THIS CASE STUDY?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084832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1993392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Formal languages support compilers, syntax analysis and programming-language design.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2926080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834640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Context-Sensitive Languages are Type-1 in the Chomsky hierarchy.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767328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675888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Linear Bounded Automata model computation with tape space bounded by input size.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608576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517136"/>
            <a:ext cx="342900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This project turns the theory into a practical recognition simulator.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541324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 dirty="0">
                <a:solidFill>
                  <a:srgbClr val="F4B942"/>
                </a:solidFill>
                <a:latin typeface="Aptos"/>
              </a:rPr>
              <a:t>The selected language makes equal-count matching visible.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96128" y="158191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43D9D5"/>
                </a:solidFill>
                <a:latin typeface="Aptos"/>
              </a:rPr>
              <a:t>CHOMSKY HIERARCHY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6128" y="2029968"/>
            <a:ext cx="5166360" cy="566928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9DB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24728" y="2176272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DB3D7"/>
                </a:solidFill>
                <a:latin typeface="Aptos Mono"/>
              </a:rPr>
              <a:t>TYPE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157984"/>
            <a:ext cx="35204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DB3D7"/>
                </a:solidFill>
                <a:latin typeface="Aptos"/>
              </a:rPr>
              <a:t>Turing Machine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83879" y="2615184"/>
            <a:ext cx="0" cy="18288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96128" y="2834640"/>
            <a:ext cx="5166360" cy="566928"/>
          </a:xfrm>
          <a:prstGeom prst="roundRect">
            <a:avLst/>
          </a:prstGeom>
          <a:solidFill>
            <a:srgbClr val="1C475B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24728" y="2980944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43D9D5"/>
                </a:solidFill>
                <a:latin typeface="Aptos Mono"/>
              </a:rPr>
              <a:t>TYPE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2962656"/>
            <a:ext cx="35204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EFF5FF"/>
                </a:solidFill>
                <a:latin typeface="Aptos"/>
              </a:rPr>
              <a:t>Linear Bounded Automaton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183879" y="3419856"/>
            <a:ext cx="0" cy="18288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596128" y="3639312"/>
            <a:ext cx="5166360" cy="566928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9DB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24728" y="3785616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DB3D7"/>
                </a:solidFill>
                <a:latin typeface="Aptos Mono"/>
              </a:rPr>
              <a:t>TYPE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767328"/>
            <a:ext cx="35204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DB3D7"/>
                </a:solidFill>
                <a:latin typeface="Aptos"/>
              </a:rPr>
              <a:t>Pushdown Automaton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83879" y="4224528"/>
            <a:ext cx="0" cy="18288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596128" y="4443984"/>
            <a:ext cx="5166360" cy="566928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9DB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24728" y="4590288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DB3D7"/>
                </a:solidFill>
                <a:latin typeface="Aptos Mono"/>
              </a:rPr>
              <a:t>TYPE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572000"/>
            <a:ext cx="352044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9DB3D7"/>
                </a:solidFill>
                <a:latin typeface="Aptos"/>
              </a:rPr>
              <a:t>Finite Automaton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5413248"/>
            <a:ext cx="2697480" cy="283464"/>
          </a:xfrm>
          <a:prstGeom prst="roundRect">
            <a:avLst/>
          </a:prstGeom>
          <a:solidFill>
            <a:srgbClr val="1C475B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0296" y="5440680"/>
            <a:ext cx="26243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43D9D5"/>
                </a:solidFill>
                <a:latin typeface="Aptos"/>
              </a:rPr>
              <a:t>FOCUS: TYPE 1 / LBA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Problem Statement &amp; Objectives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04  /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572768"/>
            <a:ext cx="3749039" cy="4434840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72768"/>
            <a:ext cx="54864" cy="443484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7865" y="1732789"/>
            <a:ext cx="349300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F4B942"/>
                </a:solidFill>
                <a:latin typeface="Aptos"/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103120"/>
            <a:ext cx="3182112" cy="12252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FF5FF"/>
                </a:solidFill>
                <a:latin typeface="Aptos"/>
              </a:rPr>
              <a:t>Design a computational system that recognizes a selected Context-Sensitive Language using an LBA-based simulation.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51560" y="3703320"/>
            <a:ext cx="310896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51560" y="3986784"/>
            <a:ext cx="25603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DB3D7"/>
                </a:solidFill>
                <a:latin typeface="Aptos"/>
              </a:rPr>
              <a:t>Target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97680"/>
            <a:ext cx="3108960" cy="329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 dirty="0">
                <a:solidFill>
                  <a:srgbClr val="F4B942"/>
                </a:solidFill>
                <a:latin typeface="Aptos Mono"/>
              </a:rPr>
              <a:t>L =</a:t>
            </a:r>
            <a:r>
              <a:rPr lang="en-US" sz="2100" b="1" i="0" dirty="0">
                <a:solidFill>
                  <a:srgbClr val="F4B942"/>
                </a:solidFill>
                <a:latin typeface="Aptos Mono"/>
              </a:rPr>
              <a:t> </a:t>
            </a:r>
            <a:r>
              <a:rPr sz="2100" b="1" i="0" dirty="0">
                <a:solidFill>
                  <a:srgbClr val="F4B942"/>
                </a:solidFill>
                <a:latin typeface="Aptos Mono"/>
              </a:rPr>
              <a:t>{aⁿbⁿcⁿ|n≥1}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65776"/>
            <a:ext cx="306324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Recognition must preserve symbol order and equal 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1572768"/>
            <a:ext cx="6748272" cy="4434840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92040" y="1572768"/>
            <a:ext cx="54864" cy="443484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05120" y="1716024"/>
            <a:ext cx="6492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43D9D5"/>
                </a:solidFill>
                <a:latin typeface="Aptos"/>
              </a:rPr>
              <a:t>OBJECTIVES</a:t>
            </a:r>
          </a:p>
        </p:txBody>
      </p:sp>
      <p:sp>
        <p:nvSpPr>
          <p:cNvPr id="20" name="Oval 19"/>
          <p:cNvSpPr/>
          <p:nvPr/>
        </p:nvSpPr>
        <p:spPr>
          <a:xfrm>
            <a:off x="5212080" y="2139696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94960" y="2048256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Study Context-Sensitive Grammars and Languages.</a:t>
            </a:r>
          </a:p>
        </p:txBody>
      </p:sp>
      <p:sp>
        <p:nvSpPr>
          <p:cNvPr id="22" name="Oval 21"/>
          <p:cNvSpPr/>
          <p:nvPr/>
        </p:nvSpPr>
        <p:spPr>
          <a:xfrm>
            <a:off x="5212080" y="2761488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94960" y="2670048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Relate Context-Sensitive Languages to LBAs.</a:t>
            </a:r>
          </a:p>
        </p:txBody>
      </p:sp>
      <p:sp>
        <p:nvSpPr>
          <p:cNvPr id="24" name="Oval 23"/>
          <p:cNvSpPr/>
          <p:nvPr/>
        </p:nvSpPr>
        <p:spPr>
          <a:xfrm>
            <a:off x="5212080" y="3383280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94960" y="3291840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Design an LBA simulation for aⁿ bⁿ cⁿ.</a:t>
            </a:r>
          </a:p>
        </p:txBody>
      </p:sp>
      <p:sp>
        <p:nvSpPr>
          <p:cNvPr id="26" name="Oval 25"/>
          <p:cNvSpPr/>
          <p:nvPr/>
        </p:nvSpPr>
        <p:spPr>
          <a:xfrm>
            <a:off x="5212080" y="4005072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94960" y="391363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Implement tape, states, transitions and head movement.</a:t>
            </a:r>
          </a:p>
        </p:txBody>
      </p:sp>
      <p:sp>
        <p:nvSpPr>
          <p:cNvPr id="28" name="Oval 27"/>
          <p:cNvSpPr/>
          <p:nvPr/>
        </p:nvSpPr>
        <p:spPr>
          <a:xfrm>
            <a:off x="5212080" y="4626864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0" y="4535424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Demonstrate symbol matching through marking.</a:t>
            </a:r>
          </a:p>
        </p:txBody>
      </p:sp>
      <p:sp>
        <p:nvSpPr>
          <p:cNvPr id="30" name="Oval 29"/>
          <p:cNvSpPr/>
          <p:nvPr/>
        </p:nvSpPr>
        <p:spPr>
          <a:xfrm>
            <a:off x="5212080" y="5248656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94960" y="5157216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Show step-by-step execution and final ACCEPT / REJECT results.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5632704"/>
            <a:ext cx="3840480" cy="283464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93408" y="5660136"/>
            <a:ext cx="376732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"/>
              </a:rPr>
              <a:t>THEORY  →  SIMULATION  → 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Selected Language and LBA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05  /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581912"/>
            <a:ext cx="3703320" cy="4370832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81912"/>
            <a:ext cx="54864" cy="437083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93293" y="1708912"/>
            <a:ext cx="34472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F4B942"/>
                </a:solidFill>
                <a:latin typeface="Aptos"/>
              </a:rPr>
              <a:t>LANGUAGE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139696"/>
            <a:ext cx="3127248" cy="39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500" b="1" i="0" dirty="0">
                <a:solidFill>
                  <a:srgbClr val="F4B942"/>
                </a:solidFill>
                <a:latin typeface="Aptos Mono"/>
              </a:rPr>
              <a:t>L={aⁿbⁿcⁿ|n≥1}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71800"/>
            <a:ext cx="2971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FF5FF"/>
                </a:solidFill>
                <a:latin typeface="Aptos"/>
              </a:rPr>
              <a:t>A string is valid only when: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3502152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2724912" cy="370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all a's occur before b's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3945635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3854196"/>
            <a:ext cx="2724912" cy="370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all b's occur before c's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" y="4389120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25880" y="4297680"/>
            <a:ext cx="2724912" cy="370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|a| = |b| = |c|</a:t>
            </a:r>
          </a:p>
        </p:txBody>
      </p:sp>
      <p:sp>
        <p:nvSpPr>
          <p:cNvPr id="20" name="Oval 19"/>
          <p:cNvSpPr/>
          <p:nvPr/>
        </p:nvSpPr>
        <p:spPr>
          <a:xfrm>
            <a:off x="1143000" y="4832604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4741164"/>
            <a:ext cx="2724912" cy="370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tape space stays linearly bounded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589532"/>
            <a:ext cx="6793992" cy="4370832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0" y="1581912"/>
            <a:ext cx="54864" cy="4370832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17820" y="1687068"/>
            <a:ext cx="65379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43D9D5"/>
                </a:solidFill>
                <a:latin typeface="Aptos"/>
              </a:rPr>
              <a:t>BOUNDED TAPE + EQUAL-COUNT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206756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dirty="0">
                <a:solidFill>
                  <a:srgbClr val="7BD88F"/>
                </a:solidFill>
                <a:latin typeface="Aptos"/>
              </a:rPr>
              <a:t>VALID  /  3a = 3b = 3c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3AF5079-18DD-EC39-EA8A-5EBE2DF803A4}"/>
              </a:ext>
            </a:extLst>
          </p:cNvPr>
          <p:cNvGrpSpPr/>
          <p:nvPr/>
        </p:nvGrpSpPr>
        <p:grpSpPr>
          <a:xfrm>
            <a:off x="7183362" y="2582926"/>
            <a:ext cx="914400" cy="429768"/>
            <a:chOff x="8887967" y="2542032"/>
            <a:chExt cx="914400" cy="429768"/>
          </a:xfrm>
        </p:grpSpPr>
        <p:sp>
          <p:nvSpPr>
            <p:cNvPr id="42" name="Rectangle 41"/>
            <p:cNvSpPr/>
            <p:nvPr/>
          </p:nvSpPr>
          <p:spPr>
            <a:xfrm>
              <a:off x="8887967" y="2542032"/>
              <a:ext cx="457200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345167" y="2542032"/>
              <a:ext cx="457200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6" name="Rectangle 45"/>
          <p:cNvSpPr/>
          <p:nvPr/>
        </p:nvSpPr>
        <p:spPr>
          <a:xfrm>
            <a:off x="8097762" y="2582926"/>
            <a:ext cx="327787" cy="429768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43624" y="3876548"/>
            <a:ext cx="4069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 dirty="0">
                <a:solidFill>
                  <a:srgbClr val="EFF5FF"/>
                </a:solidFill>
                <a:latin typeface="Aptos Mono"/>
              </a:rPr>
              <a:t>3a  |  3b  |  3c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68512" y="20574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F7B7B"/>
                </a:solidFill>
                <a:latin typeface="Aptos"/>
              </a:rPr>
              <a:t>INVALID  /  2a ≠ 3b ≠ 3c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F079092-AA80-0BAC-166B-56BDE9D615AE}"/>
              </a:ext>
            </a:extLst>
          </p:cNvPr>
          <p:cNvGrpSpPr/>
          <p:nvPr/>
        </p:nvGrpSpPr>
        <p:grpSpPr>
          <a:xfrm>
            <a:off x="4994959" y="2582926"/>
            <a:ext cx="4468855" cy="1125957"/>
            <a:chOff x="5230367" y="2523859"/>
            <a:chExt cx="4731592" cy="1125957"/>
          </a:xfrm>
        </p:grpSpPr>
        <p:sp>
          <p:nvSpPr>
            <p:cNvPr id="26" name="Rectangle 25"/>
            <p:cNvSpPr/>
            <p:nvPr/>
          </p:nvSpPr>
          <p:spPr>
            <a:xfrm>
              <a:off x="5230367" y="3220048"/>
              <a:ext cx="457200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687567" y="3220048"/>
              <a:ext cx="457200" cy="429768"/>
            </a:xfrm>
            <a:prstGeom prst="rect">
              <a:avLst/>
            </a:prstGeom>
            <a:solidFill>
              <a:srgbClr val="2C4C66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6144768" y="3220048"/>
              <a:ext cx="457200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601968" y="3220048"/>
              <a:ext cx="457200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059168" y="3220048"/>
              <a:ext cx="457200" cy="429768"/>
            </a:xfrm>
            <a:prstGeom prst="rect">
              <a:avLst/>
            </a:prstGeom>
            <a:solidFill>
              <a:srgbClr val="2C4C66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7516367" y="3220048"/>
              <a:ext cx="457200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73567" y="3220048"/>
              <a:ext cx="457200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430767" y="3220048"/>
              <a:ext cx="510078" cy="429768"/>
            </a:xfrm>
            <a:prstGeom prst="rect">
              <a:avLst/>
            </a:prstGeom>
            <a:solidFill>
              <a:srgbClr val="2C4C66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802729" y="3213744"/>
              <a:ext cx="393192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204241" y="2523859"/>
              <a:ext cx="393192" cy="429768"/>
            </a:xfrm>
            <a:prstGeom prst="rect">
              <a:avLst/>
            </a:prstGeom>
            <a:solidFill>
              <a:srgbClr val="2C4C66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9568767" y="3209757"/>
              <a:ext cx="393192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865026" y="2527780"/>
              <a:ext cx="393192" cy="429768"/>
            </a:xfrm>
            <a:prstGeom prst="rect">
              <a:avLst/>
            </a:prstGeom>
            <a:solidFill>
              <a:srgbClr val="2C4C66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9190463" y="3208575"/>
              <a:ext cx="393192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238280" y="2531526"/>
              <a:ext cx="393192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631473" y="2531526"/>
              <a:ext cx="393192" cy="429768"/>
            </a:xfrm>
            <a:prstGeom prst="rect">
              <a:avLst/>
            </a:prstGeom>
            <a:solidFill>
              <a:srgbClr val="2C4C66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6024665" y="2531526"/>
              <a:ext cx="393192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417856" y="2531526"/>
              <a:ext cx="393192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811048" y="2531526"/>
              <a:ext cx="393192" cy="429768"/>
            </a:xfrm>
            <a:prstGeom prst="rect">
              <a:avLst/>
            </a:prstGeom>
            <a:solidFill>
              <a:srgbClr val="182E58"/>
            </a:solidFill>
            <a:ln w="12700">
              <a:solidFill>
                <a:srgbClr val="3D5B8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0DCD90F-A7E2-B5F5-5916-C2FE0D6E2510}"/>
              </a:ext>
            </a:extLst>
          </p:cNvPr>
          <p:cNvGrpSpPr/>
          <p:nvPr/>
        </p:nvGrpSpPr>
        <p:grpSpPr>
          <a:xfrm>
            <a:off x="4895966" y="2590593"/>
            <a:ext cx="3922775" cy="1099503"/>
            <a:chOff x="4946258" y="3683441"/>
            <a:chExt cx="3922775" cy="1099503"/>
          </a:xfrm>
        </p:grpSpPr>
        <p:sp>
          <p:nvSpPr>
            <p:cNvPr id="27" name="TextBox 26"/>
            <p:cNvSpPr txBox="1"/>
            <p:nvPr/>
          </p:nvSpPr>
          <p:spPr>
            <a:xfrm>
              <a:off x="4946258" y="4360490"/>
              <a:ext cx="457200" cy="4224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⊢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403458" y="4360490"/>
              <a:ext cx="457200" cy="4224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60658" y="4360490"/>
              <a:ext cx="457200" cy="4224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317858" y="4360490"/>
              <a:ext cx="457200" cy="4224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a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775058" y="4360490"/>
              <a:ext cx="457200" cy="4224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b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232257" y="4360490"/>
              <a:ext cx="457200" cy="4224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b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89457" y="4360490"/>
              <a:ext cx="457200" cy="42245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b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58290" y="4387400"/>
              <a:ext cx="4572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c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41271" y="373375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⊢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419419" y="3691192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a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723497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a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116689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b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509881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b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903073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b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319772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c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7689457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>
                  <a:solidFill>
                    <a:srgbClr val="EFF5FF"/>
                  </a:solidFill>
                  <a:latin typeface="Aptos Mono"/>
                </a:rPr>
                <a:t>c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082649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c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8475841" y="3683441"/>
              <a:ext cx="393192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⊣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A2B7589-5DD9-1BF1-0989-35240E565C6B}"/>
              </a:ext>
            </a:extLst>
          </p:cNvPr>
          <p:cNvGrpSpPr/>
          <p:nvPr/>
        </p:nvGrpSpPr>
        <p:grpSpPr>
          <a:xfrm>
            <a:off x="6234062" y="3864077"/>
            <a:ext cx="4462272" cy="1106424"/>
            <a:chOff x="6876288" y="3182112"/>
            <a:chExt cx="4462272" cy="1106424"/>
          </a:xfrm>
        </p:grpSpPr>
        <p:cxnSp>
          <p:nvCxnSpPr>
            <p:cNvPr id="49" name="Connector 48"/>
            <p:cNvCxnSpPr/>
            <p:nvPr/>
          </p:nvCxnSpPr>
          <p:spPr>
            <a:xfrm>
              <a:off x="7726679" y="3520440"/>
              <a:ext cx="0" cy="374904"/>
            </a:xfrm>
            <a:prstGeom prst="line">
              <a:avLst/>
            </a:prstGeom>
            <a:ln w="17780">
              <a:solidFill>
                <a:srgbClr val="43D9D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ounded Rectangle 49"/>
            <p:cNvSpPr/>
            <p:nvPr/>
          </p:nvSpPr>
          <p:spPr>
            <a:xfrm>
              <a:off x="6876288" y="4005072"/>
              <a:ext cx="1700784" cy="283464"/>
            </a:xfrm>
            <a:prstGeom prst="roundRect">
              <a:avLst/>
            </a:prstGeom>
            <a:solidFill>
              <a:srgbClr val="1D453F"/>
            </a:solidFill>
            <a:ln w="12700">
              <a:solidFill>
                <a:srgbClr val="7BD88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912864" y="4032504"/>
              <a:ext cx="162763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200" b="1" i="0">
                  <a:solidFill>
                    <a:srgbClr val="7BD88F"/>
                  </a:solidFill>
                  <a:latin typeface="Aptos"/>
                </a:rPr>
                <a:t>ACCEPT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869680" y="3182112"/>
              <a:ext cx="2468880" cy="2560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500" b="1" i="0">
                  <a:solidFill>
                    <a:srgbClr val="EFF5FF"/>
                  </a:solidFill>
                  <a:latin typeface="Aptos Mono"/>
                </a:rPr>
                <a:t>2a  |  3b  |  3c</a:t>
              </a:r>
            </a:p>
          </p:txBody>
        </p:sp>
        <p:cxnSp>
          <p:nvCxnSpPr>
            <p:cNvPr id="74" name="Connector 73"/>
            <p:cNvCxnSpPr/>
            <p:nvPr/>
          </p:nvCxnSpPr>
          <p:spPr>
            <a:xfrm>
              <a:off x="10012680" y="3520440"/>
              <a:ext cx="0" cy="374904"/>
            </a:xfrm>
            <a:prstGeom prst="line">
              <a:avLst/>
            </a:prstGeom>
            <a:ln w="17780">
              <a:solidFill>
                <a:srgbClr val="FF7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ounded Rectangle 74"/>
            <p:cNvSpPr/>
            <p:nvPr/>
          </p:nvSpPr>
          <p:spPr>
            <a:xfrm>
              <a:off x="9180576" y="4005072"/>
              <a:ext cx="1700784" cy="283464"/>
            </a:xfrm>
            <a:prstGeom prst="roundRect">
              <a:avLst/>
            </a:prstGeom>
            <a:solidFill>
              <a:srgbClr val="4B2839"/>
            </a:solidFill>
            <a:ln w="12700">
              <a:solidFill>
                <a:srgbClr val="FF7B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217151" y="4032504"/>
              <a:ext cx="1627632" cy="20116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200" b="1" i="0">
                  <a:solidFill>
                    <a:srgbClr val="FF7B7B"/>
                  </a:solidFill>
                  <a:latin typeface="Aptos"/>
                </a:rPr>
                <a:t>REJECT</a:t>
              </a: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5212080" y="5074920"/>
            <a:ext cx="589788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The LBA repeatedly marks one a, one b and one c, then scans back within the same bounded tape.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2D15A8A-84A7-C254-31AF-90453FBBF28B}"/>
              </a:ext>
            </a:extLst>
          </p:cNvPr>
          <p:cNvGrpSpPr/>
          <p:nvPr/>
        </p:nvGrpSpPr>
        <p:grpSpPr>
          <a:xfrm>
            <a:off x="8364614" y="3280963"/>
            <a:ext cx="1170608" cy="396519"/>
            <a:chOff x="8874931" y="3264776"/>
            <a:chExt cx="1170608" cy="396519"/>
          </a:xfrm>
        </p:grpSpPr>
        <p:sp>
          <p:nvSpPr>
            <p:cNvPr id="43" name="TextBox 42"/>
            <p:cNvSpPr txBox="1"/>
            <p:nvPr/>
          </p:nvSpPr>
          <p:spPr>
            <a:xfrm>
              <a:off x="8874931" y="3267596"/>
              <a:ext cx="4572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c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261265" y="3264776"/>
              <a:ext cx="4572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c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588339" y="3277247"/>
              <a:ext cx="457200" cy="38404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700" b="1" i="0" dirty="0">
                  <a:solidFill>
                    <a:srgbClr val="EFF5FF"/>
                  </a:solidFill>
                  <a:latin typeface="Aptos Mono"/>
                </a:rPr>
                <a:t>⊣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06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A modular pipeline keeps validation, LBA processing and visualization separate.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938528"/>
            <a:ext cx="6537960" cy="466344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20574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2496" y="2029968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F5FF"/>
                </a:solidFill>
                <a:latin typeface="Aptos"/>
              </a:rPr>
              <a:t>User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574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raw string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432304"/>
            <a:ext cx="0" cy="118872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2578608"/>
            <a:ext cx="6537960" cy="466344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269748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2496" y="2670048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F5FF"/>
                </a:solidFill>
                <a:latin typeface="Aptos"/>
              </a:rPr>
              <a:t>Input &amp; Grammar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69748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alphabet + order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3072384"/>
            <a:ext cx="0" cy="118872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" y="3218688"/>
            <a:ext cx="6537960" cy="466344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33756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2496" y="3310128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F5FF"/>
                </a:solidFill>
                <a:latin typeface="Aptos"/>
              </a:rPr>
              <a:t>LBA Simulation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33756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mark-and-match loop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60520" y="3712464"/>
            <a:ext cx="0" cy="118872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14400" y="3858768"/>
            <a:ext cx="6537960" cy="466344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397763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2496" y="3950207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FF5FF"/>
                </a:solidFill>
                <a:latin typeface="Aptos"/>
              </a:rPr>
              <a:t>Tape + Head + State + Transition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977639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bounded execution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160520" y="4352544"/>
            <a:ext cx="0" cy="118872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14400" y="4498848"/>
            <a:ext cx="6537960" cy="466344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43000" y="46177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82496" y="4590288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F5FF"/>
                </a:solidFill>
                <a:latin typeface="Aptos"/>
              </a:rPr>
              <a:t>Execution Log / Visualization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461772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step trace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60520" y="4992624"/>
            <a:ext cx="0" cy="118872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14400" y="5138928"/>
            <a:ext cx="6537960" cy="466344"/>
          </a:xfrm>
          <a:prstGeom prst="roundRect">
            <a:avLst/>
          </a:prstGeom>
          <a:solidFill>
            <a:srgbClr val="1D453F"/>
          </a:solidFill>
          <a:ln w="12700">
            <a:solidFill>
              <a:srgbClr val="7BD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43000" y="525780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7BD88F"/>
                </a:solidFill>
                <a:latin typeface="Aptos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82496" y="5230368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FF5FF"/>
                </a:solidFill>
                <a:latin typeface="Aptos"/>
              </a:rPr>
              <a:t>ACCEPT / REJECT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5257800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final result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1947672"/>
            <a:ext cx="3337560" cy="3364992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01000" y="1947672"/>
            <a:ext cx="54864" cy="3364992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89620" y="2093976"/>
            <a:ext cx="308152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F4B942"/>
                </a:solidFill>
                <a:latin typeface="Aptos"/>
              </a:rPr>
              <a:t>DESIGN PRINCIPLE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3044" y="2300733"/>
            <a:ext cx="2633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rgbClr val="F4B942"/>
                </a:solidFill>
                <a:latin typeface="Aptos"/>
              </a:rPr>
              <a:t>Separate the concerns.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53044" y="3104388"/>
            <a:ext cx="2633472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 dirty="0">
                <a:solidFill>
                  <a:srgbClr val="EFF5FF"/>
                </a:solidFill>
                <a:latin typeface="Aptos"/>
              </a:rPr>
              <a:t>Validation answers “is the input well-formed?”
The engine answers “can every a match a b and c?”
The log answers “how did the LBA reach the result?”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LBA Working Methodology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07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Each cycle marks exactly one symbol from each block, then returns to the left boundary.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" y="2139696"/>
            <a:ext cx="1481328" cy="630936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231136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"/>
              </a:rPr>
              <a:t>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0008" y="2455163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679192" y="2139696"/>
            <a:ext cx="1481328" cy="630936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4056" y="2231136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"/>
              </a:rPr>
              <a:t>VALIDATE
ALPHABET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97096" y="2455163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26280" y="2139696"/>
            <a:ext cx="1481328" cy="630936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144" y="2231136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"/>
              </a:rPr>
              <a:t>VALIDATE
ORDER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44184" y="2455163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73368" y="2139696"/>
            <a:ext cx="1481328" cy="630936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2231136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FIND
UNMARKED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1" y="2455163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220456" y="2139696"/>
            <a:ext cx="1481328" cy="630936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2231136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MARK a → X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738359" y="2455163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67544" y="2139696"/>
            <a:ext cx="1481328" cy="630936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22408" y="2231136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FIND
UNMARKED 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" y="3337560"/>
            <a:ext cx="1481328" cy="630936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86968" y="3429000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MARK b → 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50008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50008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679192" y="3337560"/>
            <a:ext cx="1481328" cy="630936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34056" y="3429000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FIND
UNMARKED c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97096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197096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526280" y="3337560"/>
            <a:ext cx="1481328" cy="630936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81144" y="3429000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MARK c → Z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44184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44184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373368" y="3337560"/>
            <a:ext cx="1481328" cy="630936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28232" y="3429000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"/>
              </a:rPr>
              <a:t>RETURN
LEFT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91271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891271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220456" y="3337560"/>
            <a:ext cx="1481328" cy="630936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3429000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"/>
              </a:rPr>
              <a:t>REPEAT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738359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738359" y="3653028"/>
            <a:ext cx="292608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067544" y="3337560"/>
            <a:ext cx="1481328" cy="630936"/>
          </a:xfrm>
          <a:prstGeom prst="roundRect">
            <a:avLst/>
          </a:prstGeom>
          <a:solidFill>
            <a:srgbClr val="1D453F"/>
          </a:solidFill>
          <a:ln w="12700">
            <a:solidFill>
              <a:srgbClr val="7BD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22408" y="3429000"/>
            <a:ext cx="1371600" cy="493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7BD88F"/>
                </a:solidFill>
                <a:latin typeface="Aptos"/>
              </a:rPr>
              <a:t>ACCEPT /
REJECT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832" y="4974336"/>
            <a:ext cx="10287000" cy="713232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41832" y="4974336"/>
            <a:ext cx="54864" cy="713232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24712" y="5120640"/>
            <a:ext cx="100309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"/>
              </a:rPr>
              <a:t>MARKER LEGEND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353312" y="5340096"/>
            <a:ext cx="2057400" cy="283464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389888" y="536752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"/>
              </a:rPr>
              <a:t>X  =  processed 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840480" y="5340096"/>
            <a:ext cx="2057400" cy="283464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77056" y="536752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4B942"/>
                </a:solidFill>
                <a:latin typeface="Aptos"/>
              </a:rPr>
              <a:t>Y  =  processed b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27648" y="5340096"/>
            <a:ext cx="2057400" cy="283464"/>
          </a:xfrm>
          <a:prstGeom prst="roundRect">
            <a:avLst/>
          </a:prstGeom>
          <a:solidFill>
            <a:srgbClr val="182E58"/>
          </a:solidFill>
          <a:ln w="12700">
            <a:solidFill>
              <a:srgbClr val="7BD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64224" y="5367528"/>
            <a:ext cx="198424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7BD88F"/>
                </a:solidFill>
                <a:latin typeface="Aptos"/>
              </a:rPr>
              <a:t>Z  =  processed 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61984" y="5140960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 dirty="0">
                <a:solidFill>
                  <a:srgbClr val="9DB3D7"/>
                </a:solidFill>
                <a:latin typeface="Aptos"/>
              </a:rPr>
              <a:t>Stop when no unmarked a remains; accept only if no unmatched b or c remains.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State and Transition Design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08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4358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dirty="0">
                <a:solidFill>
                  <a:srgbClr val="43D9D5"/>
                </a:solidFill>
                <a:latin typeface="Aptos"/>
              </a:rPr>
              <a:t>State diagram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4763" y="2369820"/>
            <a:ext cx="17647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 dirty="0">
                <a:solidFill>
                  <a:srgbClr val="9DB3D7"/>
                </a:solidFill>
                <a:latin typeface="Aptos"/>
              </a:rPr>
              <a:t>Find matching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9684" y="3858619"/>
            <a:ext cx="17647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Return left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3899229"/>
            <a:ext cx="17647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9DB3D7"/>
                </a:solidFill>
                <a:latin typeface="Aptos"/>
              </a:rPr>
              <a:t>Reject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83232" y="1794580"/>
            <a:ext cx="457200" cy="0"/>
          </a:xfrm>
          <a:prstGeom prst="line">
            <a:avLst/>
          </a:prstGeom>
          <a:ln w="1397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04C8D9A-C701-9CF0-BA9F-FE0691356B73}"/>
              </a:ext>
            </a:extLst>
          </p:cNvPr>
          <p:cNvGrpSpPr/>
          <p:nvPr/>
        </p:nvGrpSpPr>
        <p:grpSpPr>
          <a:xfrm>
            <a:off x="667512" y="1436345"/>
            <a:ext cx="9217151" cy="2359152"/>
            <a:chOff x="740664" y="2057400"/>
            <a:chExt cx="9217151" cy="2359152"/>
          </a:xfrm>
        </p:grpSpPr>
        <p:sp>
          <p:nvSpPr>
            <p:cNvPr id="10" name="Oval 9"/>
            <p:cNvSpPr/>
            <p:nvPr/>
          </p:nvSpPr>
          <p:spPr>
            <a:xfrm>
              <a:off x="960120" y="2057400"/>
              <a:ext cx="1325880" cy="713232"/>
            </a:xfrm>
            <a:prstGeom prst="ellipse">
              <a:avLst/>
            </a:prstGeom>
            <a:solidFill>
              <a:srgbClr val="132449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14984" y="2322576"/>
              <a:ext cx="121615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200" b="1" i="0" dirty="0">
                  <a:solidFill>
                    <a:srgbClr val="43D9D5"/>
                  </a:solidFill>
                  <a:latin typeface="Aptos Mono"/>
                </a:rPr>
                <a:t>q0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0664" y="2871216"/>
              <a:ext cx="1764792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000" b="0" i="0">
                  <a:solidFill>
                    <a:srgbClr val="9DB3D7"/>
                  </a:solidFill>
                  <a:latin typeface="Aptos"/>
                </a:rPr>
                <a:t>Initialization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2788920" y="2057400"/>
              <a:ext cx="1325880" cy="713232"/>
            </a:xfrm>
            <a:prstGeom prst="ellipse">
              <a:avLst/>
            </a:prstGeom>
            <a:solidFill>
              <a:srgbClr val="272944"/>
            </a:solidFill>
            <a:ln w="12700">
              <a:solidFill>
                <a:srgbClr val="F4B9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851109" y="2337839"/>
              <a:ext cx="121615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200" b="1" i="0" dirty="0">
                  <a:solidFill>
                    <a:srgbClr val="F4B942"/>
                  </a:solidFill>
                  <a:latin typeface="Aptos Mono"/>
                </a:rPr>
                <a:t>q1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617720" y="2057400"/>
              <a:ext cx="1325880" cy="713232"/>
            </a:xfrm>
            <a:prstGeom prst="ellipse">
              <a:avLst/>
            </a:prstGeom>
            <a:solidFill>
              <a:srgbClr val="272944"/>
            </a:solidFill>
            <a:ln w="12700">
              <a:solidFill>
                <a:srgbClr val="F4B9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6446520" y="2057400"/>
              <a:ext cx="1325880" cy="713232"/>
            </a:xfrm>
            <a:prstGeom prst="ellipse">
              <a:avLst/>
            </a:prstGeom>
            <a:solidFill>
              <a:srgbClr val="272944"/>
            </a:solidFill>
            <a:ln w="12700">
              <a:solidFill>
                <a:srgbClr val="F4B9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21"/>
            <p:cNvSpPr/>
            <p:nvPr/>
          </p:nvSpPr>
          <p:spPr>
            <a:xfrm>
              <a:off x="4617720" y="3703320"/>
              <a:ext cx="1325880" cy="713232"/>
            </a:xfrm>
            <a:prstGeom prst="ellipse">
              <a:avLst/>
            </a:prstGeom>
            <a:solidFill>
              <a:srgbClr val="132449"/>
            </a:solidFill>
            <a:ln w="12700">
              <a:solidFill>
                <a:srgbClr val="43D9D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77156" y="3970856"/>
              <a:ext cx="121615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200" b="1" i="0" dirty="0">
                  <a:solidFill>
                    <a:srgbClr val="43D9D5"/>
                  </a:solidFill>
                  <a:latin typeface="Aptos Mono"/>
                </a:rPr>
                <a:t>q4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8412480" y="2057400"/>
              <a:ext cx="1325880" cy="713232"/>
            </a:xfrm>
            <a:prstGeom prst="ellipse">
              <a:avLst/>
            </a:prstGeom>
            <a:solidFill>
              <a:srgbClr val="1D453F"/>
            </a:solidFill>
            <a:ln w="12700">
              <a:solidFill>
                <a:srgbClr val="7BD88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467344" y="2355168"/>
              <a:ext cx="121615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200" b="1" i="0" dirty="0" err="1">
                  <a:solidFill>
                    <a:srgbClr val="7BD88F"/>
                  </a:solidFill>
                  <a:latin typeface="Aptos Mono"/>
                </a:rPr>
                <a:t>q_accept</a:t>
              </a:r>
              <a:endParaRPr sz="1200" b="1" i="0" dirty="0">
                <a:solidFill>
                  <a:srgbClr val="7BD88F"/>
                </a:solidFill>
                <a:latin typeface="Aptos Mono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193023" y="2871216"/>
              <a:ext cx="1764792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000" b="0" i="0">
                  <a:solidFill>
                    <a:srgbClr val="9DB3D7"/>
                  </a:solidFill>
                  <a:latin typeface="Aptos"/>
                </a:rPr>
                <a:t>Accept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8412480" y="3703320"/>
              <a:ext cx="1325880" cy="713232"/>
            </a:xfrm>
            <a:prstGeom prst="ellipse">
              <a:avLst/>
            </a:prstGeom>
            <a:solidFill>
              <a:srgbClr val="4B2839"/>
            </a:solidFill>
            <a:ln w="12700">
              <a:solidFill>
                <a:srgbClr val="FF7B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467344" y="3959871"/>
              <a:ext cx="1216152" cy="2194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200" b="1" i="0" dirty="0" err="1">
                  <a:solidFill>
                    <a:srgbClr val="FF7B7B"/>
                  </a:solidFill>
                  <a:latin typeface="Aptos Mono"/>
                </a:rPr>
                <a:t>q_reject</a:t>
              </a:r>
              <a:endParaRPr sz="1200" b="1" i="0" dirty="0">
                <a:solidFill>
                  <a:srgbClr val="FF7B7B"/>
                </a:solidFill>
                <a:latin typeface="Aptos Mono"/>
              </a:endParaRPr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2304288" y="2414016"/>
              <a:ext cx="457200" cy="0"/>
            </a:xfrm>
            <a:prstGeom prst="line">
              <a:avLst/>
            </a:prstGeom>
            <a:ln w="13970">
              <a:solidFill>
                <a:srgbClr val="3D5B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4133087" y="2414016"/>
              <a:ext cx="457201" cy="0"/>
            </a:xfrm>
            <a:prstGeom prst="line">
              <a:avLst/>
            </a:prstGeom>
            <a:ln w="13970">
              <a:solidFill>
                <a:srgbClr val="3D5B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>
              <a:cxnSpLocks/>
              <a:stCxn id="19" idx="4"/>
              <a:endCxn id="22" idx="0"/>
            </p:cNvCxnSpPr>
            <p:nvPr/>
          </p:nvCxnSpPr>
          <p:spPr>
            <a:xfrm flipH="1">
              <a:off x="5280660" y="2770632"/>
              <a:ext cx="1828800" cy="932688"/>
            </a:xfrm>
            <a:prstGeom prst="line">
              <a:avLst/>
            </a:prstGeom>
            <a:ln w="13970">
              <a:solidFill>
                <a:srgbClr val="3D5B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>
              <a:cxnSpLocks/>
              <a:stCxn id="22" idx="0"/>
              <a:endCxn id="13" idx="4"/>
            </p:cNvCxnSpPr>
            <p:nvPr/>
          </p:nvCxnSpPr>
          <p:spPr>
            <a:xfrm flipH="1" flipV="1">
              <a:off x="3451860" y="2770632"/>
              <a:ext cx="1828800" cy="932688"/>
            </a:xfrm>
            <a:prstGeom prst="line">
              <a:avLst/>
            </a:prstGeom>
            <a:ln w="13970">
              <a:solidFill>
                <a:srgbClr val="3D5B8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>
              <a:cxnSpLocks/>
              <a:stCxn id="20" idx="3"/>
              <a:endCxn id="26" idx="1"/>
            </p:cNvCxnSpPr>
            <p:nvPr/>
          </p:nvCxnSpPr>
          <p:spPr>
            <a:xfrm>
              <a:off x="7748608" y="2455164"/>
              <a:ext cx="718736" cy="9732"/>
            </a:xfrm>
            <a:prstGeom prst="line">
              <a:avLst/>
            </a:prstGeom>
            <a:ln w="12700">
              <a:solidFill>
                <a:srgbClr val="7BD8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>
              <a:cxnSpLocks/>
              <a:stCxn id="13" idx="5"/>
              <a:endCxn id="28" idx="2"/>
            </p:cNvCxnSpPr>
            <p:nvPr/>
          </p:nvCxnSpPr>
          <p:spPr>
            <a:xfrm>
              <a:off x="3920629" y="2666182"/>
              <a:ext cx="4491851" cy="1393754"/>
            </a:xfrm>
            <a:prstGeom prst="line">
              <a:avLst/>
            </a:prstGeom>
            <a:ln w="12700">
              <a:solidFill>
                <a:srgbClr val="FF7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7722108" y="2077900"/>
              <a:ext cx="11430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1" dirty="0">
                  <a:solidFill>
                    <a:srgbClr val="7BD88F"/>
                  </a:solidFill>
                  <a:latin typeface="Aptos"/>
                </a:rPr>
                <a:t>right boundary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402068" y="4104232"/>
              <a:ext cx="13258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1" dirty="0">
                  <a:solidFill>
                    <a:srgbClr val="FF7B7B"/>
                  </a:solidFill>
                  <a:latin typeface="Aptos"/>
                </a:rPr>
                <a:t>invalid / mismatch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69463" y="2871216"/>
              <a:ext cx="1764792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5000"/>
                </a:lnSpc>
              </a:pPr>
              <a:r>
                <a:rPr sz="1000" b="0" i="0" dirty="0">
                  <a:solidFill>
                    <a:srgbClr val="9DB3D7"/>
                  </a:solidFill>
                  <a:latin typeface="Aptos"/>
                </a:rPr>
                <a:t>Find unmarked a</a:t>
              </a:r>
            </a:p>
          </p:txBody>
        </p:sp>
      </p:grpSp>
      <p:sp>
        <p:nvSpPr>
          <p:cNvPr id="40" name="Rounded Rectangle 39"/>
          <p:cNvSpPr/>
          <p:nvPr/>
        </p:nvSpPr>
        <p:spPr>
          <a:xfrm>
            <a:off x="822960" y="4105655"/>
            <a:ext cx="10789920" cy="2039111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68096" y="4206974"/>
            <a:ext cx="54864" cy="1937791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607A0B1-657F-E2A6-47DC-158547F4C752}"/>
              </a:ext>
            </a:extLst>
          </p:cNvPr>
          <p:cNvGrpSpPr/>
          <p:nvPr/>
        </p:nvGrpSpPr>
        <p:grpSpPr>
          <a:xfrm>
            <a:off x="1052152" y="4106933"/>
            <a:ext cx="10533888" cy="1700784"/>
            <a:chOff x="1005840" y="4736592"/>
            <a:chExt cx="10533888" cy="1700784"/>
          </a:xfrm>
        </p:grpSpPr>
        <p:sp>
          <p:nvSpPr>
            <p:cNvPr id="42" name="TextBox 41"/>
            <p:cNvSpPr txBox="1"/>
            <p:nvPr/>
          </p:nvSpPr>
          <p:spPr>
            <a:xfrm>
              <a:off x="1005840" y="4736592"/>
              <a:ext cx="10533888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200" b="1" i="0" dirty="0">
                  <a:solidFill>
                    <a:srgbClr val="43D9D5"/>
                  </a:solidFill>
                  <a:latin typeface="Aptos"/>
                </a:rPr>
                <a:t>COMPACT TRANSITION TABLE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115568" y="4937760"/>
              <a:ext cx="169164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1" i="0" dirty="0">
                  <a:solidFill>
                    <a:srgbClr val="43D9D5"/>
                  </a:solidFill>
                  <a:latin typeface="Aptos"/>
                </a:rPr>
                <a:t>CURRENT STATE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108960" y="4937760"/>
              <a:ext cx="96012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1" i="0" dirty="0">
                  <a:solidFill>
                    <a:srgbClr val="43D9D5"/>
                  </a:solidFill>
                  <a:latin typeface="Aptos"/>
                </a:rPr>
                <a:t>SYMBOL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297680" y="4937760"/>
              <a:ext cx="406908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1" i="0" dirty="0">
                  <a:solidFill>
                    <a:srgbClr val="43D9D5"/>
                  </a:solidFill>
                  <a:latin typeface="Aptos"/>
                </a:rPr>
                <a:t>OPERATION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15568" y="5175504"/>
              <a:ext cx="16916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108960" y="5175504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a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297680" y="5175504"/>
              <a:ext cx="4069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 dirty="0">
                  <a:solidFill>
                    <a:srgbClr val="EFF5FF"/>
                  </a:solidFill>
                  <a:latin typeface="Aptos"/>
                </a:rPr>
                <a:t>Mark X, move right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115568" y="5358384"/>
              <a:ext cx="16916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q2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108960" y="5358384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b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297680" y="5358384"/>
              <a:ext cx="4069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"/>
                </a:rPr>
                <a:t>Mark Y, move right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115568" y="5541264"/>
              <a:ext cx="16916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q3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3108960" y="5541264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c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4297680" y="5541264"/>
              <a:ext cx="4069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"/>
                </a:rPr>
                <a:t>Mark Z, move left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15568" y="5724144"/>
              <a:ext cx="16916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q4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108960" y="5724144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X/Y/Z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297680" y="5724144"/>
              <a:ext cx="4069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"/>
                </a:rPr>
                <a:t>Move left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115568" y="5907024"/>
              <a:ext cx="16916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q4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108960" y="5907024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⊢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297680" y="5907024"/>
              <a:ext cx="4069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"/>
                </a:rPr>
                <a:t>Move right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15568" y="6089904"/>
              <a:ext cx="16916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q1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108960" y="6089904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⊣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297680" y="6089904"/>
              <a:ext cx="4069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"/>
                </a:rPr>
                <a:t>Accept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115568" y="6272784"/>
              <a:ext cx="169164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FF7B7B"/>
                  </a:solidFill>
                  <a:latin typeface="Aptos Mono"/>
                </a:rPr>
                <a:t>Any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108960" y="6272784"/>
              <a:ext cx="960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FF7B7B"/>
                  </a:solidFill>
                  <a:latin typeface="Aptos Mono"/>
                </a:rPr>
                <a:t>invalid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297680" y="6272784"/>
              <a:ext cx="406908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FF7B7B"/>
                  </a:solidFill>
                  <a:latin typeface="Aptos"/>
                </a:rPr>
                <a:t>Reject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EA89B68-B4AA-C9B2-7D44-74EE5CDAFF47}"/>
              </a:ext>
            </a:extLst>
          </p:cNvPr>
          <p:cNvGrpSpPr/>
          <p:nvPr/>
        </p:nvGrpSpPr>
        <p:grpSpPr>
          <a:xfrm>
            <a:off x="5980176" y="4314691"/>
            <a:ext cx="1828800" cy="1499616"/>
            <a:chOff x="8595360" y="4937760"/>
            <a:chExt cx="1828800" cy="1499616"/>
          </a:xfrm>
        </p:grpSpPr>
        <p:sp>
          <p:nvSpPr>
            <p:cNvPr id="46" name="TextBox 45"/>
            <p:cNvSpPr txBox="1"/>
            <p:nvPr/>
          </p:nvSpPr>
          <p:spPr>
            <a:xfrm>
              <a:off x="8595360" y="4937760"/>
              <a:ext cx="182880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1" i="0" dirty="0">
                  <a:solidFill>
                    <a:srgbClr val="43D9D5"/>
                  </a:solidFill>
                  <a:latin typeface="Aptos"/>
                </a:rPr>
                <a:t>NEXT STATE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595360" y="5175504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q2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595360" y="5358384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q3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595360" y="5541264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q4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595360" y="5724144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q4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595360" y="5907024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q1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8595360" y="6089904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>
                  <a:solidFill>
                    <a:srgbClr val="EFF5FF"/>
                  </a:solidFill>
                  <a:latin typeface="Aptos Mono"/>
                </a:rPr>
                <a:t>q_accept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595360" y="6272784"/>
              <a:ext cx="182880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900" b="0" i="0" dirty="0" err="1">
                  <a:solidFill>
                    <a:srgbClr val="FF7B7B"/>
                  </a:solidFill>
                  <a:latin typeface="Aptos Mono"/>
                </a:rPr>
                <a:t>q_reject</a:t>
              </a:r>
              <a:endParaRPr sz="900" b="0" i="0" dirty="0">
                <a:solidFill>
                  <a:srgbClr val="FF7B7B"/>
                </a:solidFill>
                <a:latin typeface="Aptos Mono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6459304" y="1724381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 dirty="0">
                <a:solidFill>
                  <a:srgbClr val="F4B942"/>
                </a:solidFill>
                <a:latin typeface="Aptos Mono"/>
              </a:rPr>
              <a:t>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1708894"/>
            <a:ext cx="12161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 dirty="0">
                <a:solidFill>
                  <a:srgbClr val="F4B942"/>
                </a:solidFill>
                <a:latin typeface="Aptos Mono"/>
              </a:rPr>
              <a:t>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537" y="2273389"/>
            <a:ext cx="17647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 dirty="0">
                <a:solidFill>
                  <a:srgbClr val="9DB3D7"/>
                </a:solidFill>
                <a:latin typeface="Aptos"/>
              </a:rPr>
              <a:t>Find matching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Example Execution: aaabbbccc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09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One complete cycle consumes one symbol from each 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43D9D5"/>
                </a:solidFill>
                <a:latin typeface="Aptos Mono"/>
              </a:rPr>
              <a:t>INITIAL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04872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9504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9504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4136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4136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58768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58768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400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28032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28032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12664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12664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97296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97296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81928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81928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1956816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66560" y="1993392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⊣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98848" y="2450592"/>
            <a:ext cx="0" cy="146304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32688" y="2743200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4B942"/>
                </a:solidFill>
                <a:latin typeface="Aptos Mono"/>
              </a:rPr>
              <a:t>CYCLE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20240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04872" y="2670048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04872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89504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889504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74136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74136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58768" y="2670048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58768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43400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28032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828032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12664" y="2670048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12664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97296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97296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8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81928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66560" y="2670048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66560" y="2706624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⊣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498848" y="3163824"/>
            <a:ext cx="0" cy="146304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32688" y="3456432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4B942"/>
                </a:solidFill>
                <a:latin typeface="Aptos Mono"/>
              </a:rPr>
              <a:t>CYCLE 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920240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⊢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04872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404872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89504" y="3383280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889504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74136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374136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58768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858768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43400" y="3383280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343400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28032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828032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12664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312664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97296" y="3383280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797296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81928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81928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66560" y="3383280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766560" y="3419856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⊣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498848" y="3877056"/>
            <a:ext cx="0" cy="146304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32688" y="4169664"/>
            <a:ext cx="80467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F4B942"/>
                </a:solidFill>
                <a:latin typeface="Aptos Mono"/>
              </a:rPr>
              <a:t>CYCLE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20240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920240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⊢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04872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404872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889504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889504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374136" y="4096512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3374136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58768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858768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343400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4343400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28032" y="4096512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828032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12664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312664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797296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797296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281928" y="4096512"/>
            <a:ext cx="484632" cy="438912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281928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766560" y="4096512"/>
            <a:ext cx="484632" cy="438912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766560" y="4133088"/>
            <a:ext cx="484632" cy="3931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⊣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7479792" y="1947672"/>
            <a:ext cx="3931920" cy="3447288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479792" y="1947672"/>
            <a:ext cx="54864" cy="3447288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662671" y="2093976"/>
            <a:ext cx="36758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43D9D5"/>
                </a:solidFill>
                <a:latin typeface="Aptos"/>
              </a:rPr>
              <a:t>TRACE INTERPRETATION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82127" y="2542032"/>
            <a:ext cx="3154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EFF5FF"/>
                </a:solidFill>
                <a:latin typeface="Aptos Mono"/>
              </a:rPr>
              <a:t>1 a + 1 b + 1 c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454896" y="2926080"/>
            <a:ext cx="0" cy="320040"/>
          </a:xfrm>
          <a:prstGeom prst="line">
            <a:avLst/>
          </a:prstGeom>
          <a:ln w="15240">
            <a:solidFill>
              <a:srgbClr val="43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8275320" y="3328416"/>
            <a:ext cx="23408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3D9D5"/>
                </a:solidFill>
                <a:latin typeface="Aptos"/>
              </a:rPr>
              <a:t>mark them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9454896" y="3639312"/>
            <a:ext cx="0" cy="320040"/>
          </a:xfrm>
          <a:prstGeom prst="line">
            <a:avLst/>
          </a:prstGeom>
          <a:ln w="15240">
            <a:solidFill>
              <a:srgbClr val="43D9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8074152" y="4050791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43D9D5"/>
                </a:solidFill>
                <a:latin typeface="Aptos"/>
              </a:rPr>
              <a:t>return and repeat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9454896" y="4352544"/>
            <a:ext cx="0" cy="310896"/>
          </a:xfrm>
          <a:prstGeom prst="line">
            <a:avLst/>
          </a:prstGeom>
          <a:ln w="15240">
            <a:solidFill>
              <a:srgbClr val="7BD8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7863840" y="4791456"/>
            <a:ext cx="3182112" cy="283464"/>
          </a:xfrm>
          <a:prstGeom prst="roundRect">
            <a:avLst/>
          </a:prstGeom>
          <a:solidFill>
            <a:srgbClr val="1D453F"/>
          </a:solidFill>
          <a:ln w="12700">
            <a:solidFill>
              <a:srgbClr val="7BD8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7900415" y="481888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7BD88F"/>
                </a:solidFill>
                <a:latin typeface="Aptos"/>
              </a:rPr>
              <a:t>ALL SYMBOLS MATCHED  →  ACCEPT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32688" y="5193792"/>
            <a:ext cx="5989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The markers make the LBA's bookkeeping visible without changing the bounded tape length.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Experimental Results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10  / 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9DB3D7"/>
                </a:solidFill>
                <a:latin typeface="Aptos"/>
              </a:rPr>
              <a:t>The test suite checks alphabet validity, block order and equal counts.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920240"/>
          <a:ext cx="763524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3D9D5"/>
                          </a:solidFill>
                          <a:latin typeface="Aptos"/>
                        </a:rPr>
                        <a:t>TEST CASE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3D9D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3D9D5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43D9D5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TC01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abc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BD88F"/>
                          </a:solidFill>
                          <a:latin typeface="Aptos Mono"/>
                        </a:rPr>
                        <a:t>ACCEPT</a:t>
                      </a:r>
                    </a:p>
                  </a:txBody>
                  <a:tcPr marL="73152">
                    <a:solidFill>
                      <a:srgbClr val="1D4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1, 1, 1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TC02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aabbcc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BD88F"/>
                          </a:solidFill>
                          <a:latin typeface="Aptos Mono"/>
                        </a:rPr>
                        <a:t>ACCEPT</a:t>
                      </a:r>
                    </a:p>
                  </a:txBody>
                  <a:tcPr marL="73152">
                    <a:solidFill>
                      <a:srgbClr val="1D4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2, 2, 2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TC03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aaabbbccc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7BD88F"/>
                          </a:solidFill>
                          <a:latin typeface="Aptos Mono"/>
                        </a:rPr>
                        <a:t>ACCEPT</a:t>
                      </a:r>
                    </a:p>
                  </a:txBody>
                  <a:tcPr marL="73152">
                    <a:solidFill>
                      <a:srgbClr val="1D45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3, 3, 3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TC04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aabbbccc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7B7B"/>
                          </a:solidFill>
                          <a:latin typeface="Aptos Mono"/>
                        </a:rPr>
                        <a:t>REJECT</a:t>
                      </a:r>
                    </a:p>
                  </a:txBody>
                  <a:tcPr marL="73152">
                    <a:solidFill>
                      <a:srgbClr val="4B28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Unequal counts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TC05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aaabbcc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7B7B"/>
                          </a:solidFill>
                          <a:latin typeface="Aptos Mono"/>
                        </a:rPr>
                        <a:t>REJECT</a:t>
                      </a:r>
                    </a:p>
                  </a:txBody>
                  <a:tcPr marL="73152">
                    <a:solidFill>
                      <a:srgbClr val="4B28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Unequal counts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TC06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abcabc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7B7B"/>
                          </a:solidFill>
                          <a:latin typeface="Aptos Mono"/>
                        </a:rPr>
                        <a:t>REJECT</a:t>
                      </a:r>
                    </a:p>
                  </a:txBody>
                  <a:tcPr marL="73152">
                    <a:solidFill>
                      <a:srgbClr val="4B28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Incorrect order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TC07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aabbc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7B7B"/>
                          </a:solidFill>
                          <a:latin typeface="Aptos Mono"/>
                        </a:rPr>
                        <a:t>REJECT</a:t>
                      </a:r>
                    </a:p>
                  </a:txBody>
                  <a:tcPr marL="73152">
                    <a:solidFill>
                      <a:srgbClr val="4B28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Missing c</a:t>
                      </a:r>
                    </a:p>
                  </a:txBody>
                  <a:tcPr marL="73152">
                    <a:solidFill>
                      <a:srgbClr val="132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2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TC08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 Mono"/>
                        </a:rPr>
                        <a:t>aaabbbcccd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7B7B"/>
                          </a:solidFill>
                          <a:latin typeface="Aptos Mono"/>
                        </a:rPr>
                        <a:t>REJECT</a:t>
                      </a:r>
                    </a:p>
                  </a:txBody>
                  <a:tcPr marL="73152">
                    <a:solidFill>
                      <a:srgbClr val="4B283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EFF5FF"/>
                          </a:solidFill>
                          <a:latin typeface="Aptos"/>
                        </a:rPr>
                        <a:t>Invalid symbol</a:t>
                      </a:r>
                    </a:p>
                  </a:txBody>
                  <a:tcPr marL="73152">
                    <a:solidFill>
                      <a:srgbClr val="182E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796528" y="1920240"/>
            <a:ext cx="2560320" cy="3584448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96528" y="1920240"/>
            <a:ext cx="54864" cy="358444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58301" y="2074952"/>
            <a:ext cx="230428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F4B942"/>
                </a:solidFill>
                <a:latin typeface="Aptos"/>
              </a:rPr>
              <a:t>OBSERVATION</a:t>
            </a:r>
          </a:p>
        </p:txBody>
      </p:sp>
      <p:sp>
        <p:nvSpPr>
          <p:cNvPr id="14" name="Oval 13"/>
          <p:cNvSpPr/>
          <p:nvPr/>
        </p:nvSpPr>
        <p:spPr>
          <a:xfrm>
            <a:off x="9079992" y="2587752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2872" y="2496312"/>
            <a:ext cx="1783080" cy="45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FF5FF"/>
                </a:solidFill>
                <a:latin typeface="Aptos"/>
              </a:rPr>
              <a:t>Equal counts are required.</a:t>
            </a:r>
          </a:p>
        </p:txBody>
      </p:sp>
      <p:sp>
        <p:nvSpPr>
          <p:cNvPr id="16" name="Oval 15"/>
          <p:cNvSpPr/>
          <p:nvPr/>
        </p:nvSpPr>
        <p:spPr>
          <a:xfrm>
            <a:off x="9079992" y="3211829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62872" y="3120389"/>
            <a:ext cx="1783080" cy="45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FF5FF"/>
                </a:solidFill>
                <a:latin typeface="Aptos"/>
              </a:rPr>
              <a:t>Correct ordering is required.</a:t>
            </a:r>
          </a:p>
        </p:txBody>
      </p:sp>
      <p:sp>
        <p:nvSpPr>
          <p:cNvPr id="18" name="Oval 17"/>
          <p:cNvSpPr/>
          <p:nvPr/>
        </p:nvSpPr>
        <p:spPr>
          <a:xfrm>
            <a:off x="9079992" y="3835907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62872" y="3744468"/>
            <a:ext cx="1783080" cy="45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FF5FF"/>
                </a:solidFill>
                <a:latin typeface="Aptos"/>
              </a:rPr>
              <a:t>Unsupported symbols are rejected.</a:t>
            </a:r>
          </a:p>
        </p:txBody>
      </p:sp>
      <p:sp>
        <p:nvSpPr>
          <p:cNvPr id="20" name="Oval 19"/>
          <p:cNvSpPr/>
          <p:nvPr/>
        </p:nvSpPr>
        <p:spPr>
          <a:xfrm>
            <a:off x="9079992" y="4459986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62872" y="4368546"/>
            <a:ext cx="1783080" cy="4594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EFF5FF"/>
                </a:solidFill>
                <a:latin typeface="Aptos"/>
              </a:rPr>
              <a:t>Marking visualizes matching.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4956048"/>
            <a:ext cx="1965960" cy="283464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5711" y="4983480"/>
            <a:ext cx="1892807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4B942"/>
                </a:solidFill>
                <a:latin typeface="Aptos"/>
              </a:rPr>
              <a:t>3 ACCEPT  /  5 REJECT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THEORY OF COMPUTATION  / 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Conclusion &amp; Future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11  /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572768"/>
            <a:ext cx="5321808" cy="4498848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72768"/>
            <a:ext cx="54864" cy="4498848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71016" y="1738015"/>
            <a:ext cx="50657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43D9D5"/>
                </a:solidFill>
                <a:latin typeface="Aptos"/>
              </a:rPr>
              <a:t>CONCLUSION</a:t>
            </a:r>
          </a:p>
        </p:txBody>
      </p:sp>
      <p:sp>
        <p:nvSpPr>
          <p:cNvPr id="12" name="Oval 11"/>
          <p:cNvSpPr/>
          <p:nvPr/>
        </p:nvSpPr>
        <p:spPr>
          <a:xfrm>
            <a:off x="1088136" y="2176272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71016" y="2084831"/>
            <a:ext cx="4462272" cy="64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Demonstrates practical LBA-based recognition of a Context-Sensitive Language.</a:t>
            </a:r>
          </a:p>
        </p:txBody>
      </p:sp>
      <p:sp>
        <p:nvSpPr>
          <p:cNvPr id="14" name="Oval 13"/>
          <p:cNvSpPr/>
          <p:nvPr/>
        </p:nvSpPr>
        <p:spPr>
          <a:xfrm>
            <a:off x="1088136" y="2983229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71016" y="2891789"/>
            <a:ext cx="4462272" cy="64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The mark-and-match method verifies equal numbers of a, b and c.</a:t>
            </a:r>
          </a:p>
        </p:txBody>
      </p:sp>
      <p:sp>
        <p:nvSpPr>
          <p:cNvPr id="16" name="Oval 15"/>
          <p:cNvSpPr/>
          <p:nvPr/>
        </p:nvSpPr>
        <p:spPr>
          <a:xfrm>
            <a:off x="1088136" y="3790187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71016" y="3698748"/>
            <a:ext cx="4462272" cy="64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The simulator exposes bounded tape processing, states, transitions and marking.</a:t>
            </a:r>
          </a:p>
        </p:txBody>
      </p:sp>
      <p:sp>
        <p:nvSpPr>
          <p:cNvPr id="18" name="Oval 17"/>
          <p:cNvSpPr/>
          <p:nvPr/>
        </p:nvSpPr>
        <p:spPr>
          <a:xfrm>
            <a:off x="1088136" y="4597146"/>
            <a:ext cx="82296" cy="82296"/>
          </a:xfrm>
          <a:prstGeom prst="ellipse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71016" y="4505706"/>
            <a:ext cx="4462272" cy="642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EFF5FF"/>
                </a:solidFill>
                <a:latin typeface="Aptos"/>
              </a:rPr>
              <a:t>The execution trace makes LBA operation easier to teach and inspect.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2" y="1572768"/>
            <a:ext cx="5257800" cy="4498848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82512" y="1572768"/>
            <a:ext cx="54864" cy="4498848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67144" y="1738015"/>
            <a:ext cx="5001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F4B942"/>
                </a:solidFill>
                <a:latin typeface="Aptos"/>
              </a:rPr>
              <a:t>FUTURE SCOPE</a:t>
            </a:r>
          </a:p>
        </p:txBody>
      </p:sp>
      <p:sp>
        <p:nvSpPr>
          <p:cNvPr id="23" name="Oval 22"/>
          <p:cNvSpPr/>
          <p:nvPr/>
        </p:nvSpPr>
        <p:spPr>
          <a:xfrm>
            <a:off x="6684264" y="2121408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7144" y="2029968"/>
            <a:ext cx="4343400" cy="407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Graphical tape animation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684264" y="2620409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67144" y="2528969"/>
            <a:ext cx="4343400" cy="407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Step-by-step controls</a:t>
            </a:r>
          </a:p>
        </p:txBody>
      </p:sp>
      <p:sp>
        <p:nvSpPr>
          <p:cNvPr id="27" name="Oval 26"/>
          <p:cNvSpPr/>
          <p:nvPr/>
        </p:nvSpPr>
        <p:spPr>
          <a:xfrm>
            <a:off x="6684264" y="3119410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67144" y="3027970"/>
            <a:ext cx="4343400" cy="407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Multiple context-sensitive languages</a:t>
            </a:r>
          </a:p>
        </p:txBody>
      </p:sp>
      <p:sp>
        <p:nvSpPr>
          <p:cNvPr id="29" name="Oval 28"/>
          <p:cNvSpPr/>
          <p:nvPr/>
        </p:nvSpPr>
        <p:spPr>
          <a:xfrm>
            <a:off x="6684264" y="3618411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67144" y="3526971"/>
            <a:ext cx="4343400" cy="407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Custom transition tables</a:t>
            </a:r>
          </a:p>
        </p:txBody>
      </p:sp>
      <p:sp>
        <p:nvSpPr>
          <p:cNvPr id="31" name="Oval 30"/>
          <p:cNvSpPr/>
          <p:nvPr/>
        </p:nvSpPr>
        <p:spPr>
          <a:xfrm>
            <a:off x="6684264" y="4117412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67144" y="4025972"/>
            <a:ext cx="4343400" cy="407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Interactive LBA designer</a:t>
            </a:r>
          </a:p>
        </p:txBody>
      </p:sp>
      <p:sp>
        <p:nvSpPr>
          <p:cNvPr id="33" name="Oval 32"/>
          <p:cNvSpPr/>
          <p:nvPr/>
        </p:nvSpPr>
        <p:spPr>
          <a:xfrm>
            <a:off x="6684264" y="4616413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7144" y="4524973"/>
            <a:ext cx="4343400" cy="407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Detailed execution reports</a:t>
            </a:r>
          </a:p>
        </p:txBody>
      </p:sp>
      <p:sp>
        <p:nvSpPr>
          <p:cNvPr id="35" name="Oval 34"/>
          <p:cNvSpPr/>
          <p:nvPr/>
        </p:nvSpPr>
        <p:spPr>
          <a:xfrm>
            <a:off x="6684264" y="5115414"/>
            <a:ext cx="82296" cy="822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67144" y="5023974"/>
            <a:ext cx="4343400" cy="407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Web-based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5216" y="292608"/>
            <a:ext cx="5394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43D9D5"/>
                </a:solidFill>
                <a:latin typeface="Aptos"/>
              </a:rPr>
              <a:t>ACADEMIC CASE STUDY  / 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576072"/>
            <a:ext cx="100584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EFF5FF"/>
                </a:solidFill>
                <a:latin typeface="Aptos"/>
              </a:rPr>
              <a:t>References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5216" y="1188720"/>
            <a:ext cx="11018520" cy="0"/>
          </a:xfrm>
          <a:prstGeom prst="line">
            <a:avLst/>
          </a:prstGeom>
          <a:ln w="1270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5216" y="6327648"/>
            <a:ext cx="11018520" cy="0"/>
          </a:xfrm>
          <a:prstGeom prst="line">
            <a:avLst/>
          </a:prstGeom>
          <a:ln w="10160">
            <a:solidFill>
              <a:srgbClr val="3D5B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85216" y="6510528"/>
            <a:ext cx="640080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CONTEXT-SENSITIVE GRAMMAR PARSER  /  LBA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510528"/>
            <a:ext cx="1042415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 i="0">
                <a:solidFill>
                  <a:srgbClr val="9DB3D7"/>
                </a:solidFill>
                <a:latin typeface="Aptos"/>
              </a:rPr>
              <a:t>12  /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572768"/>
            <a:ext cx="6903720" cy="4526280"/>
          </a:xfrm>
          <a:prstGeom prst="roundRect">
            <a:avLst/>
          </a:prstGeom>
          <a:solidFill>
            <a:srgbClr val="132449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6384" y="1572768"/>
            <a:ext cx="54864" cy="4526280"/>
          </a:xfrm>
          <a:prstGeom prst="rect">
            <a:avLst/>
          </a:prstGeom>
          <a:solidFill>
            <a:srgbClr val="43D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36192" y="1668780"/>
            <a:ext cx="66476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dirty="0">
                <a:solidFill>
                  <a:srgbClr val="43D9D5"/>
                </a:solidFill>
                <a:latin typeface="Aptos"/>
              </a:rPr>
              <a:t>SELECTED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75104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965960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M. Sipser, Introduction to the Theory of Computation, 3rd 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2316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414016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J. E. Hopcroft, R. Motwani and J. D. Ullman, Introduction to Automata Theory, Languages, and Computation, 3rd 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7121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86207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J. C. Linz, An Introduction to Formal Languages and Automata.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19272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310128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M. Prem Nath, “Context-sensitive Grammars and Linear-Bounded Automata,” 2016.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67328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58184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MIT OpenCourseWare, Theory of Computation.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15384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206240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MIT OpenCourseWare, Computer Language Engineering.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654296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Encyclopedia of Mathematics, Formal Languages and Automata.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11496"/>
            <a:ext cx="347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43D9D5"/>
                </a:solidFill>
                <a:latin typeface="Aptos Mono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102352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 i="0">
                <a:solidFill>
                  <a:srgbClr val="EFF5FF"/>
                </a:solidFill>
                <a:latin typeface="Aptos"/>
              </a:rPr>
              <a:t>H. C. Baker, Theory of Computation Course Materials.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1572768"/>
            <a:ext cx="3291840" cy="4526280"/>
          </a:xfrm>
          <a:prstGeom prst="roundRect">
            <a:avLst/>
          </a:prstGeom>
          <a:solidFill>
            <a:srgbClr val="272944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65008" y="1572768"/>
            <a:ext cx="54864" cy="452628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47888" y="1719072"/>
            <a:ext cx="3035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4B942"/>
                </a:solidFill>
                <a:latin typeface="Aptos"/>
              </a:rPr>
              <a:t>CLOSING 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70632"/>
            <a:ext cx="257860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F4B942"/>
                </a:solidFill>
                <a:latin typeface="Aptos"/>
              </a:rPr>
              <a:t>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493008"/>
            <a:ext cx="25786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EFF5FF"/>
                </a:solidFill>
                <a:latin typeface="Aptos"/>
              </a:rPr>
              <a:t>Questions / Discussion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4096512"/>
            <a:ext cx="28163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DB3D7"/>
                </a:solidFill>
                <a:latin typeface="Aptos"/>
              </a:rPr>
              <a:t>FINAL MARKED TAPE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57616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57616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4370832"/>
            <a:ext cx="256032" cy="365760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13648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69680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25712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25712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81744" y="4370832"/>
            <a:ext cx="256032" cy="365760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81744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37776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37776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93808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93808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4370832"/>
            <a:ext cx="256032" cy="365760"/>
          </a:xfrm>
          <a:prstGeom prst="rect">
            <a:avLst/>
          </a:prstGeom>
          <a:solidFill>
            <a:srgbClr val="2C4C66"/>
          </a:solidFill>
          <a:ln w="12700">
            <a:solidFill>
              <a:srgbClr val="43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49840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05872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05872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61904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661904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43D9D5"/>
                </a:solidFill>
                <a:latin typeface="Aptos Mono"/>
              </a:rPr>
              <a:t>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17936" y="4370832"/>
            <a:ext cx="256032" cy="365760"/>
          </a:xfrm>
          <a:prstGeom prst="rect">
            <a:avLst/>
          </a:prstGeom>
          <a:solidFill>
            <a:srgbClr val="182E58"/>
          </a:solidFill>
          <a:ln w="12700">
            <a:solidFill>
              <a:srgbClr val="3D5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917936" y="4407408"/>
            <a:ext cx="25603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EFF5FF"/>
                </a:solidFill>
                <a:latin typeface="Aptos Mono"/>
              </a:rPr>
              <a:t>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1295</Words>
  <Application>Microsoft Office PowerPoint</Application>
  <PresentationFormat>Widescreen</PresentationFormat>
  <Paragraphs>392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Amolika Shinde</cp:lastModifiedBy>
  <cp:revision>6</cp:revision>
  <dcterms:created xsi:type="dcterms:W3CDTF">2013-01-27T09:14:16Z</dcterms:created>
  <dcterms:modified xsi:type="dcterms:W3CDTF">2026-09-29T08:38:54Z</dcterms:modified>
  <cp:category/>
</cp:coreProperties>
</file>